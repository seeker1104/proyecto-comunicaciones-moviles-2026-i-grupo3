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27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023360"/>
            <a:ext cx="3657600" cy="36576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2A3F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1283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MAYOR DE SAN MARCOS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e Implementación de una Estación Base GSM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OpenBTS y Hardware SDR (USRP B210)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6 — Presentación Final  •  Comunicaciones Móviles  •  Semestre 2026-1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Gilvonio Chate, Victor Ernesto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 Hidalgo, Russell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 Quispe, Fernando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Villafuerte Barreto, Hernán Oswaldo  •  Grupo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exposición técnica + 10 min demostración práctica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680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773936"/>
            <a:ext cx="347472" cy="347472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943" y="1864279"/>
            <a:ext cx="166787" cy="166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691640"/>
            <a:ext cx="612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y contexto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7680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231343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371600" y="2395728"/>
            <a:ext cx="347472" cy="347472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943" y="2486071"/>
            <a:ext cx="166787" cy="166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2313432"/>
            <a:ext cx="612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teóricos GSM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2935224"/>
            <a:ext cx="7680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2935224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1371600" y="3017520"/>
            <a:ext cx="347472" cy="347472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943" y="3107863"/>
            <a:ext cx="166787" cy="166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2935224"/>
            <a:ext cx="612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 implementación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40080" y="3557016"/>
            <a:ext cx="7680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68680" y="3557016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1371600" y="3639312"/>
            <a:ext cx="347472" cy="347472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943" y="3729655"/>
            <a:ext cx="166787" cy="166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3557016"/>
            <a:ext cx="612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obtenidos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40080" y="4178808"/>
            <a:ext cx="7680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68680" y="4178808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1371600" y="4261104"/>
            <a:ext cx="347472" cy="347472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943" y="4351447"/>
            <a:ext cx="166787" cy="166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920240" y="4178808"/>
            <a:ext cx="612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técnicos y soluciones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640080" y="4800600"/>
            <a:ext cx="7680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68680" y="4800600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1371600" y="4882896"/>
            <a:ext cx="347472" cy="347472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1943" y="4973239"/>
            <a:ext cx="166787" cy="16678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920240" y="4800600"/>
            <a:ext cx="612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pendiente y conclusiones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640080" y="5422392"/>
            <a:ext cx="76809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868680" y="5422392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Shape 28"/>
          <p:cNvSpPr/>
          <p:nvPr/>
        </p:nvSpPr>
        <p:spPr>
          <a:xfrm>
            <a:off x="1371600" y="5504688"/>
            <a:ext cx="347472" cy="347472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1943" y="5595031"/>
            <a:ext cx="166787" cy="16678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920240" y="5422392"/>
            <a:ext cx="6126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práctica en vivo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9509760" y="2377440"/>
            <a:ext cx="1463040" cy="14630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150" y="2757830"/>
            <a:ext cx="702259" cy="70225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869680" y="4069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GSM-900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ARFCN 51 (935.2 MHz)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GSM con Radio Definida por Software?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688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RAN e infraestructura abierta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con SDR es la base pedagógica de la tendencia hacia redes celulares virtualizadas que domina la industria hoy.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6916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861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4688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de los sistemas celulares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3154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 sigue siendo la mejor puerta de entrada para comprender TDMA, FDMA y la gestión de canales lógicos.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12480" y="16916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901" y="18580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4688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de bajo costo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12480" y="3154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reales con OpenBTS han llevado conectividad a zonas rurales de México, Zambia e Indonesia.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propuesta: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14400" y="49377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estación base GSM funcional usando software 100% libre (OpenBTS + Asterisk) y hardware SDR de propósito general (USRP B210), demostrando el ciclo completo de radiofrecuencia, señalización y core de red.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GSM tradicional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subsistemas jerárquicos con protocolos propietarios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1031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38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móvil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23360" y="18288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4920" y="21031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341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/ BSC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Estación base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(RAN)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132320" y="18288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83880" y="21031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301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6948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HLR / VLR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26948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(conmutación de circuitos)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788920"/>
            <a:ext cx="411480" cy="411480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78892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Protocolos: SS7, GSM 04.08 — hardware propietario, alto costo de despliegue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1645920" y="5029200"/>
            <a:ext cx="7772400" cy="109728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/>
        </p:spPr>
      </p:sp>
      <p:sp>
        <p:nvSpPr>
          <p:cNvPr id="23" name="Shape 16"/>
          <p:cNvSpPr/>
          <p:nvPr/>
        </p:nvSpPr>
        <p:spPr>
          <a:xfrm>
            <a:off x="1920240" y="52120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2886" y="5354726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697480" y="51206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OpenBTS reemplaza BSC + MSC + HLR/VLR completos con software corriendo sobre una PC convencional.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enfoque OpenBTS: la BTS como nodo 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26395E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783080"/>
            <a:ext cx="731520" cy="731520"/>
          </a:xfrm>
          <a:prstGeom prst="ellipse">
            <a:avLst/>
          </a:prstGeom>
          <a:solidFill>
            <a:srgbClr val="121D3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315" y="1973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GSM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Um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(GSM estándar)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26280" y="146304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26395E"/>
          </a:solidFill>
          <a:ln/>
        </p:spPr>
      </p:sp>
      <p:sp>
        <p:nvSpPr>
          <p:cNvPr id="9" name="Shape 6"/>
          <p:cNvSpPr/>
          <p:nvPr/>
        </p:nvSpPr>
        <p:spPr>
          <a:xfrm>
            <a:off x="5806440" y="1783080"/>
            <a:ext cx="731520" cy="731520"/>
          </a:xfrm>
          <a:prstGeom prst="ellipse">
            <a:avLst/>
          </a:prstGeom>
          <a:solidFill>
            <a:srgbClr val="121D3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635" y="197327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USRP B210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0916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Transceptor SDR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OpenBTS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146304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26395E"/>
          </a:solidFill>
          <a:ln/>
        </p:spPr>
      </p:sp>
      <p:sp>
        <p:nvSpPr>
          <p:cNvPr id="14" name="Shape 10"/>
          <p:cNvSpPr/>
          <p:nvPr/>
        </p:nvSpPr>
        <p:spPr>
          <a:xfrm>
            <a:off x="9509760" y="1783080"/>
            <a:ext cx="731520" cy="731520"/>
          </a:xfrm>
          <a:prstGeom prst="ellipse">
            <a:avLst/>
          </a:prstGeom>
          <a:solidFill>
            <a:srgbClr val="121D3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9955" y="197327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1248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SIP/VoIP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(reemplaza MSC+HLR)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2514600"/>
            <a:ext cx="365760" cy="365760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251460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→ SIP/RTP:  </a:t>
            </a:r>
            <a:r>
              <a:rPr lang="en-US" sz="14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OpenBTS traduce la señalización GSM (Location Update) en mensajes SIP REGISTER, y las llamadas en INVITE.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22960" y="4800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usuarios:  </a:t>
            </a:r>
            <a:r>
              <a:rPr lang="en-US" sz="14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requiere un HLR físico; se gestiona en una base de datos SQLite local de Asterisk/OpenBTS.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2296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y despliegue:  </a:t>
            </a:r>
            <a:r>
              <a:rPr lang="en-US" sz="14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infraestructura propietaria de alto costo a software libre sobre hardware de uso general.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interfaz de radio: TDMA + FDMA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17885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FDMA — División de frecuencia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Portadoras de 200 kHz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GSM-900: 935–960 MHz (downlink)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890–915 MHz (uplink)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dúplex (FDD): 45 MHz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canales por sentido (ARFCN 0–124)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425196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43891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canal: ARFCN 51 → 935.2 MHz DL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35040" y="13716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/>
        </p:spPr>
      </p:sp>
      <p:sp>
        <p:nvSpPr>
          <p:cNvPr id="11" name="Shape 8"/>
          <p:cNvSpPr/>
          <p:nvPr/>
        </p:nvSpPr>
        <p:spPr>
          <a:xfrm>
            <a:off x="6309360" y="1645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06" y="17885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TDMA — División de tiempo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09360" y="23317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timeslots por portadora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Trama TDMA: 4.615 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timeslot: 577 µs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Modulación GMSK (BT = 0.3)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guarda entre ráfagas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9360" y="425196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6" name="Text 12"/>
          <p:cNvSpPr/>
          <p:nvPr/>
        </p:nvSpPr>
        <p:spPr>
          <a:xfrm>
            <a:off x="6492240" y="4389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usuarios simultáneos por canal de 200 kHz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lógicos y proceso de registro (Location Update)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08176" y="182880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371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7432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BTS difunde parámetros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red (MCC, MNC, LAC)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4660" y="274320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56432" y="15087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59359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361688" y="182880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883" y="201899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7872" y="27432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47872" y="3246120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móvil solicita acceso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(Aloha ranurado)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172" y="274320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9944" y="15087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547104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315200" y="182880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395" y="2018995"/>
            <a:ext cx="351130" cy="3511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01384" y="27432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AGCH / SDCCH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501384" y="3246120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asigna canal dedicado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señalización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684" y="274320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363456" y="150876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9500616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10268712" y="182880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8907" y="2018995"/>
            <a:ext cx="351130" cy="35113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454896" y="27432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Update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9454896" y="3246120"/>
            <a:ext cx="2359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registro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base de datos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DF3E3"/>
          </a:solidFill>
          <a:ln/>
        </p:spPr>
      </p:sp>
      <p:sp>
        <p:nvSpPr>
          <p:cNvPr id="31" name="Shape 22"/>
          <p:cNvSpPr/>
          <p:nvPr/>
        </p:nvSpPr>
        <p:spPr>
          <a:xfrm>
            <a:off x="914400" y="48006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46" y="4943246"/>
            <a:ext cx="263347" cy="263347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691640" y="4736592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medimos en laboratorio: OpenBTS registró 7 eventos RACH y 7 eventos de inicio de Location Update (LUR.Start), confirmando que la señal llega correctamente desde el terminal hasta la BTS.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 implementado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81912"/>
            <a:ext cx="621792" cy="621792"/>
          </a:xfrm>
          <a:prstGeom prst="ellipse">
            <a:avLst/>
          </a:prstGeom>
          <a:solidFill>
            <a:srgbClr val="2E456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1743578"/>
            <a:ext cx="298460" cy="29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52704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RF / Física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212080" y="152704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USRP NI 2901 (B210) + Antena VERT900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326880" y="152704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3.0 / UHD 3.15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532888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2E4670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697480"/>
            <a:ext cx="621792" cy="621792"/>
          </a:xfrm>
          <a:prstGeom prst="ellipse">
            <a:avLst/>
          </a:prstGeom>
          <a:solidFill>
            <a:srgbClr val="2E456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066" y="2859146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642616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BTS Software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212080" y="264261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OpenBTS 5.0 + Transceiver52M (UHD)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9326880" y="2642616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I/Q por UDP local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648456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476B9E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3813048"/>
            <a:ext cx="621792" cy="621792"/>
          </a:xfrm>
          <a:prstGeom prst="ellipse">
            <a:avLst/>
          </a:prstGeom>
          <a:solidFill>
            <a:srgbClr val="2E456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066" y="3974714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3758184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Core / VoIP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212080" y="375818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16.2.1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326880" y="3758184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(puerto 5062) / RTP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4764024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6E8EBE"/>
          </a:solidFill>
          <a:ln/>
        </p:spPr>
      </p:sp>
      <p:sp>
        <p:nvSpPr>
          <p:cNvPr id="22" name="Shape 17"/>
          <p:cNvSpPr/>
          <p:nvPr/>
        </p:nvSpPr>
        <p:spPr>
          <a:xfrm>
            <a:off x="914400" y="4928616"/>
            <a:ext cx="621792" cy="621792"/>
          </a:xfrm>
          <a:prstGeom prst="ellipse">
            <a:avLst/>
          </a:prstGeom>
          <a:solidFill>
            <a:srgbClr val="2E456E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066" y="5090282"/>
            <a:ext cx="298460" cy="298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487375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212080" y="487375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— OpenBTS.db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326880" y="487375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parámetros GSM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de desarrollo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fue elegida deliberadamente por compatibilidad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0" y="1691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0" y="16916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20.04.6 (Focal Fossa)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nativa con UHD 3.15.x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0881360" cy="5029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97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UHD Driver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3.15.0.0-2build5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26974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requerida por OpenBTS legacy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00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200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5.0-master (2026-06-22)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200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GSM completo, compilado desde fuente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10881360" cy="50292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3703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16.2.1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7033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SIP/VoIP, reemplaza MSC/HLR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4206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USRP NI 2901 (B210)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42062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31E9D73 — Antena VERT900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Adaptando OpenBTS a UHD 3.15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OpenBTS fue escrito para una API de UHD ya descontinuada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766560" cy="4480560"/>
          </a:xfrm>
          <a:prstGeom prst="roundRect">
            <a:avLst>
              <a:gd name="adj" fmla="val 1224"/>
            </a:avLst>
          </a:prstGeom>
          <a:solidFill>
            <a:srgbClr val="0E16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UHDDevice.cpp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8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ANTES (UHD &lt; 3.0, API obsoleta)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&lt;uhd/utils/msg.hpp&gt;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798064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uhd::msg::register_handler(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145536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&amp;uhd_msg_handler);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49300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8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DESPUÉS (parche para UHD 3.15)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18795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&lt;uhd/utils/log.hpp&gt;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535424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8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uhd::msg::register_handler(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882896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8E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&amp;uhd_msg_handler);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23036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55778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uhd::set_thread_priority_safe();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resueltos: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80960" y="2194560"/>
            <a:ext cx="310896" cy="310896"/>
          </a:xfrm>
          <a:prstGeom prst="ellipse">
            <a:avLst/>
          </a:prstGeom>
          <a:solidFill>
            <a:srgbClr val="1F3354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93" y="2275393"/>
            <a:ext cx="149230" cy="1492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138160" y="21488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uhd/utils/msg.hpp eliminado → uhd/utils/log.hpp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680960" y="3063240"/>
            <a:ext cx="310896" cy="310896"/>
          </a:xfrm>
          <a:prstGeom prst="ellipse">
            <a:avLst/>
          </a:prstGeom>
          <a:solidFill>
            <a:srgbClr val="1F3354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93" y="3144073"/>
            <a:ext cx="149230" cy="14923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138160" y="3017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uhd::msg::register_handler() ya no existe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680960" y="3931920"/>
            <a:ext cx="310896" cy="310896"/>
          </a:xfrm>
          <a:prstGeom prst="ellipse">
            <a:avLst/>
          </a:prstGeom>
          <a:solidFill>
            <a:srgbClr val="1F3354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93" y="4012753"/>
            <a:ext cx="149230" cy="14923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138160" y="3886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thread_priority.hpp deprecado → thread.hpp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680960" y="4800600"/>
            <a:ext cx="310896" cy="310896"/>
          </a:xfrm>
          <a:prstGeom prst="ellipse">
            <a:avLst/>
          </a:prstGeom>
          <a:solidFill>
            <a:srgbClr val="1F3354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93" y="4881433"/>
            <a:ext cx="149230" cy="1492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138160" y="47548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Transceiver52M no se compilaba por defecto (usaba RAD1 legacy)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de la red GSM experimental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938528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Country Code — Perú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15768" y="1554480"/>
            <a:ext cx="1938528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807208" y="16916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07208" y="205740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07208" y="26974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ficticio de laboratorio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91456" y="1554480"/>
            <a:ext cx="1938528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82896" y="16916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ARFCN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82896" y="205740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82896" y="26974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935.2 MHz downlink (GSM-900)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67144" y="1554480"/>
            <a:ext cx="1938528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958584" y="16916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58584" y="205740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UNMSM-GSM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58584" y="26974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visible en el terminal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42832" y="1554480"/>
            <a:ext cx="1938528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034272" y="16916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MaxAttenDB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34272" y="205740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34272" y="26974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reducida para uso en lab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visible en la búsqueda manual del terminal: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11480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9050">
            <a:solidFill>
              <a:srgbClr val="D7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062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71655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716 + MNC 55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4251960"/>
            <a:ext cx="1005840" cy="100584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718" y="4513478"/>
            <a:ext cx="482803" cy="482803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309360" y="411480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terminales muestran el código MCC+MNC en lugar del nombre de red cuando esta no está en su base interna de operadores conocidos — comportamiento esperado en redes experimentales.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1 — Hardware detectado y operativo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0" cy="4343400"/>
          </a:xfrm>
          <a:prstGeom prst="roundRect">
            <a:avLst>
              <a:gd name="adj" fmla="val 1263"/>
            </a:avLst>
          </a:prstGeom>
          <a:solidFill>
            <a:srgbClr val="0E162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7276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uhd_find_devices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9751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[UHD] linux; UHD_3.15.0.0-2build5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539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[B200] Loading firmware image...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328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8117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UHD Device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906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3695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Address: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64845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serial: 31E9D73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9273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USRP_2901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product: B210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4851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b200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también con uhd_usrp_probe: firmware FPGA cargado (usrp_b210_fpga.bin), frontends TX/RX y RX2 disponibles.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1554480"/>
            <a:ext cx="640080" cy="640080"/>
          </a:xfrm>
          <a:prstGeom prst="ellipse">
            <a:avLst/>
          </a:prstGeom>
          <a:solidFill>
            <a:srgbClr val="2D8C5B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061" y="1720901"/>
            <a:ext cx="307238" cy="30723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confirmado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06640" y="2331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718" y="2407798"/>
            <a:ext cx="140452" cy="1404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818120" y="2304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USRP B210 — serial 31E9D73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406640" y="29260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718" y="3002158"/>
            <a:ext cx="140452" cy="1404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898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FPGA cargado correctamente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406640" y="35204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718" y="3596518"/>
            <a:ext cx="140452" cy="1404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818120" y="34930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USB 3.0 estable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406640" y="41148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718" y="4190878"/>
            <a:ext cx="140452" cy="1404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18120" y="4087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VERT900 en puerto TX/RX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2 — Estación base transmitiendo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0" cy="4206240"/>
          </a:xfrm>
          <a:prstGeom prst="roundRect">
            <a:avLst>
              <a:gd name="adj" fmla="val 1304"/>
            </a:avLst>
          </a:prstGeom>
          <a:solidFill>
            <a:srgbClr val="0E162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/OpenBTS &amp;&amp; sudo ./OpenBTS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OpenBTS (re)starting, ver 5.0-master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32257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the system...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transceiver ./transceiver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1 ARFCNs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25526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[B200] Detected Device: B210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[B200] Loading FPGA image...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87705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[B200] Operating over USB 3.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18795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[B200] Actually got clock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49884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 26.000000 MHz.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480974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51206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OpenBTS&gt;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1554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061" y="1720901"/>
            <a:ext cx="307238" cy="30723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activa confirmada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06640" y="233172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718" y="2407798"/>
            <a:ext cx="140452" cy="1404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818120" y="2304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rojo encendido en puerto TX/RX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406640" y="29260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718" y="3002158"/>
            <a:ext cx="140452" cy="1404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2898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BCCH activo en ARFCN 51 (935.2 MHz)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406640" y="35204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718" y="3596518"/>
            <a:ext cx="140452" cy="14045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818120" y="34930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con peer SIP configurado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406640" y="411480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718" y="4190878"/>
            <a:ext cx="140452" cy="1404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18120" y="40873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UHD (no RAD1 legacy) en uso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406640" y="470916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1B2A4A"/>
          </a:solidFill>
          <a:ln/>
        </p:spPr>
      </p:sp>
      <p:sp>
        <p:nvSpPr>
          <p:cNvPr id="32" name="Text 25"/>
          <p:cNvSpPr/>
          <p:nvPr/>
        </p:nvSpPr>
        <p:spPr>
          <a:xfrm>
            <a:off x="7589520" y="4800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[ESPACIO PARA FOTO: USRP B210 con LED TX/RX encendido]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3 — Red detectada por el terminal móvil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2743200" cy="5029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Movistar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2743200" cy="5029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 PER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2743200" cy="548640"/>
          </a:xfrm>
          <a:prstGeom prst="rect">
            <a:avLst/>
          </a:prstGeom>
          <a:solidFill>
            <a:srgbClr val="FDF3E3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83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71699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Nuestra red GSM experimental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Galaxy A32m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Modo: Solo 2G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demuestra: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97680" y="2103120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78" y="2198218"/>
            <a:ext cx="175565" cy="17556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46320" y="210312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BCCH se transmite correctamente en ARFCN 51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97680" y="2880360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78" y="2975458"/>
            <a:ext cx="175565" cy="1755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46320" y="288036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teléfono detecta la red en búsqueda manual (716-99)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297680" y="3657600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78" y="3752698"/>
            <a:ext cx="175565" cy="1755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46320" y="365760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tiene potencia e integridad suficiente para ser leída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297680" y="4434840"/>
            <a:ext cx="365760" cy="36576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78" y="4529938"/>
            <a:ext cx="175565" cy="1755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6320" y="44348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el primer paso del flujo de registro GSM (recepción del BCCH)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297680" y="5257800"/>
            <a:ext cx="6858000" cy="822960"/>
          </a:xfrm>
          <a:prstGeom prst="roundRect">
            <a:avLst>
              <a:gd name="adj" fmla="val 7778"/>
            </a:avLst>
          </a:prstGeom>
          <a:solidFill>
            <a:srgbClr val="1B2A4A"/>
          </a:solidFill>
          <a:ln/>
        </p:spPr>
      </p:sp>
      <p:sp>
        <p:nvSpPr>
          <p:cNvPr id="28" name="Text 22"/>
          <p:cNvSpPr/>
          <p:nvPr/>
        </p:nvSpPr>
        <p:spPr>
          <a:xfrm>
            <a:off x="4480560" y="534924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[ESPACIO PARA FOTO: pantalla del Samsung A32m mostrando la red 71699]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4 — Comunicación bidireccional confirmada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OpenBTS&gt; stats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(RACH.TA.Accepted.0)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6916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37560" y="2697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Inicios de registro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(GSM.MM.LUR.Start)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dB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943600" y="2697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(RX gain)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58200" y="169164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18288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549640" y="26974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Regeneraciones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beacon (BCCH)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069080"/>
            <a:ext cx="640080" cy="640080"/>
          </a:xfrm>
          <a:prstGeom prst="ellipse">
            <a:avLst/>
          </a:prstGeom>
          <a:solidFill>
            <a:srgbClr val="2D8C5B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235501"/>
            <a:ext cx="307238" cy="30723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3736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técnica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737360" y="443484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terminal envió 7 solicitudes de acceso aleatorio (RACH) y la BTS inició 7 procedimientos de actualización de ubicación (Location Update). Esto confirma que existe comunicación bidireccional real entre el Samsung A32m y la estación base: el teléfono no solo recibe el BCCH, sino que intenta activamente registrarse en la red.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técnicos resueltos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468880" cy="4206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DF3E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17766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incorrecto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binario compilado era para USRP1 (TransceiverRAD1), no para el B210.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8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389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y compilamos Transceiver52M con soporte UHD nativo.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468880" cy="4206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45920"/>
            <a:ext cx="502920" cy="502920"/>
          </a:xfrm>
          <a:prstGeom prst="ellipse">
            <a:avLst/>
          </a:prstGeom>
          <a:solidFill>
            <a:srgbClr val="FDF3E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79" y="177667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UHD obsoleta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74720" y="3154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OpenBTS usaba uhd::msg, eliminado en UHD 3.15.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7472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8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74720" y="4389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Parcheamos UHDDevice.cpp: msg.hpp → log.hpp, comentando el handler legacy.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43600" y="1417320"/>
            <a:ext cx="2468880" cy="4206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1645920"/>
            <a:ext cx="502920" cy="502920"/>
          </a:xfrm>
          <a:prstGeom prst="ellipse">
            <a:avLst/>
          </a:prstGeom>
          <a:solidFill>
            <a:srgbClr val="FDF3E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239" y="1776679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dual roto (GRUB)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26480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126480" y="3154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instalador sobrescribió el bootloader de Windows en el firmware Acer.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12648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8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26480" y="4389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Reordenamos el Boot Priority directamente desde el BIOS (Insyde H2O).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595360" y="1417320"/>
            <a:ext cx="2468880" cy="42062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778240" y="1645920"/>
            <a:ext cx="502920" cy="502920"/>
          </a:xfrm>
          <a:prstGeom prst="ellipse">
            <a:avLst/>
          </a:prstGeom>
          <a:solidFill>
            <a:srgbClr val="FDF3E3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8999" y="1776679"/>
            <a:ext cx="241402" cy="24140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77824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Corrupción de journal ext4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778240" y="2880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778240" y="31546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Apagados forzados durante la falla de GRUB dañaron el sistema de archivos.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77824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8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8778240" y="4389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 con fsck desde Live USB y reinstalación con apagado correcto.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pendiente: lo que aún no logramos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técnica sobre el estado actual del proyecto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26395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594360" cy="594360"/>
          </a:xfrm>
          <a:prstGeom prst="ellipse">
            <a:avLst/>
          </a:prstGeom>
          <a:solidFill>
            <a:srgbClr val="8B5A1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19376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STALE burst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Síntoma:  </a:t>
            </a: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transceiver descarta ráfagas porque llegan tarde al USRP ("dumping STALE burst").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probable:  </a:t>
            </a: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introducida por el adaptador SATA-USB 3.0 del SSD externo, agravada por carga de CPU (WiFi, procesos en segundo plano).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343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Efecto:  </a:t>
            </a: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Location Update no se completa; el teléfono ve la red pero no logra registrarse.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074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 en curso:  </a:t>
            </a:r>
            <a:r>
              <a:rPr lang="en-US" sz="12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deshabilitar WiFi y procesos en segundo plano antes de arrancar OpenBTS; evaluar SSD con conexión SATA directa.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349240" cy="4599432"/>
          </a:xfrm>
          <a:prstGeom prst="roundRect">
            <a:avLst>
              <a:gd name="adj" fmla="val 1702"/>
            </a:avLst>
          </a:prstGeom>
          <a:solidFill>
            <a:srgbClr val="26395E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783080"/>
            <a:ext cx="594360" cy="594360"/>
          </a:xfrm>
          <a:prstGeom prst="ellipse">
            <a:avLst/>
          </a:prstGeom>
          <a:solidFill>
            <a:srgbClr val="8B5A1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774" y="193761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SIM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24688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 </a:t>
            </a: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una SIM comercial (Entel); OpenBTS no posee su clave Ki para autenticar.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92240" y="33832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importa:  </a:t>
            </a: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completo y las llamadas de voz requieren una SIM cuyo IMSI/Ki esté en la base de datos de OpenBTS.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92240" y="44348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evaluadas:  </a:t>
            </a:r>
            <a:r>
              <a:rPr lang="en-US" sz="12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programables (sysmoISIM-SJA2: fuera de presupuesto en paquetes de 10); registro manual vía addimsi como vía intermedia.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5486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 </a:t>
            </a:r>
            <a:r>
              <a:rPr lang="en-US" sz="115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 SIM programables individuales en Mercado Libre Perú / AliExpress, o gestionar préstamo con el laboratorio FIEE.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9047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16736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logró una BTS GSM funcional: USRP B210 + OpenBTS 5.0 transmitiendo activamente en ARFCN 51 (935.2 MHz, GSM-900).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2677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093976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terminal Samsung A32m detecta la red experimental (71699) y genera tráfico RACH/LUR real, confirmando comunicación bidireccional.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4495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871216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Resolvimos incompatibilidades profundas entre OpenBTS y UHD 3.15 mediante parches directos al código fuente del transceiver.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FDF3E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2219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3648456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completo y las llamadas de voz quedan pendientes por latencia de hardware (STALE burst) y falta de SIM programable.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FDF3E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4425696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demuestra dominio práctico del stack GSM completo: RF, señalización, núcleo SIP y depuración de sistemas Linux.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0120" y="1463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Networks. (2021). OpenBTS Project. GitHub. github.com/RangeNetworks/openbts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Ettus Research. (2024). USRP Hardware Driver and USRP Manual. files.ettus.com/manual/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2374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52374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Project. (2024). Asterisk Documentation. docs.asterisk.org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TS 04.08 / TS 05.05. Mobile radio interface — Layer 3 / Radio transmission. ETSI.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84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5844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Burgess, D., &amp; Samra, H. (2008). The OpenBTS Project. Kestrel Signal Processing.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114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Parra, C. et al. (2022). Prototipo de red GSM basada en SDR. RITI, 10(21).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645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6451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 Transportes y Comunicaciones. (2025). Plan Nacional de Atribución de Frecuencias (PNAF).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Comunicaciones Móviles — UNMSM FIEE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1463040"/>
            <a:ext cx="1280160" cy="1280160"/>
          </a:xfrm>
          <a:prstGeom prst="ellipse">
            <a:avLst/>
          </a:prstGeom>
          <a:solidFill>
            <a:srgbClr val="26395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922" y="1795882"/>
            <a:ext cx="614477" cy="614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Muchas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Gracias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práctica a continuación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Gilvonio Chate, García Hidalgo, Chino Quispe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2190</Words>
  <Application>Microsoft Office PowerPoint</Application>
  <PresentationFormat>Panorámica</PresentationFormat>
  <Paragraphs>345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Estacion Base GSM con OpenBTS y USRP B210</dc:title>
  <dc:subject>PptxGenJS Presentation</dc:subject>
  <dc:creator>Grupo 3 - Comunicaciones Moviles</dc:creator>
  <cp:lastModifiedBy>Victor Gilvonio Chate</cp:lastModifiedBy>
  <cp:revision>2</cp:revision>
  <dcterms:created xsi:type="dcterms:W3CDTF">2026-06-30T04:07:04Z</dcterms:created>
  <dcterms:modified xsi:type="dcterms:W3CDTF">2026-07-15T09:15:56Z</dcterms:modified>
</cp:coreProperties>
</file>